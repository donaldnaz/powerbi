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6" r:id="rId1"/>
  </p:sldMasterIdLst>
  <p:sldIdLst>
    <p:sldId id="256" r:id="rId2"/>
    <p:sldId id="257" r:id="rId3"/>
    <p:sldId id="258" r:id="rId4"/>
    <p:sldId id="259" r:id="rId5"/>
    <p:sldId id="267" r:id="rId6"/>
    <p:sldId id="261" r:id="rId7"/>
    <p:sldId id="260" r:id="rId8"/>
    <p:sldId id="266" r:id="rId9"/>
    <p:sldId id="264" r:id="rId10"/>
    <p:sldId id="265" r:id="rId11"/>
    <p:sldId id="269" r:id="rId12"/>
    <p:sldId id="263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260"/>
    <a:srgbClr val="4D1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9"/>
    <p:restoredTop sz="94623"/>
  </p:normalViewPr>
  <p:slideViewPr>
    <p:cSldViewPr snapToGrid="0" snapToObjects="1">
      <p:cViewPr varScale="1">
        <p:scale>
          <a:sx n="150" d="100"/>
          <a:sy n="150" d="100"/>
        </p:scale>
        <p:origin x="199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21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96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3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21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87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08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47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46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6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9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3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3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hand-leave-pen-paper-thank-you-226358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dirty="0"/>
              <a:t>Real Time Carbon Storage Monitoring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023" y="2669068"/>
            <a:ext cx="7357952" cy="16985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800" dirty="0">
                <a:solidFill>
                  <a:srgbClr val="002060"/>
                </a:solidFill>
              </a:rPr>
              <a:t>Applying Cloud-Native Streaming to CCS Operations</a:t>
            </a:r>
          </a:p>
          <a:p>
            <a:pPr algn="ctr"/>
            <a:endParaRPr lang="en-TT" sz="2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921109-C877-B065-9F16-427FAF8CD34A}"/>
              </a:ext>
            </a:extLst>
          </p:cNvPr>
          <p:cNvSpPr txBox="1">
            <a:spLocks/>
          </p:cNvSpPr>
          <p:nvPr/>
        </p:nvSpPr>
        <p:spPr>
          <a:xfrm>
            <a:off x="1949225" y="5487415"/>
            <a:ext cx="5245548" cy="1366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002060"/>
                </a:solidFill>
              </a:rPr>
              <a:t>By Anasieze Ikenna - Cloud &amp; AI Solutions Engineer</a:t>
            </a:r>
          </a:p>
          <a:p>
            <a:pPr algn="ctr"/>
            <a:endParaRPr lang="en-TT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91334"/>
            <a:ext cx="7989752" cy="3630795"/>
          </a:xfrm>
        </p:spPr>
        <p:txBody>
          <a:bodyPr>
            <a:normAutofit/>
          </a:bodyPr>
          <a:lstStyle/>
          <a:p>
            <a:r>
              <a:rPr sz="2000" dirty="0"/>
              <a:t>CCS operations require continuous monitoring</a:t>
            </a:r>
          </a:p>
          <a:p>
            <a:r>
              <a:rPr sz="2000" dirty="0"/>
              <a:t>Injection</a:t>
            </a:r>
            <a:r>
              <a:rPr lang="en-US" sz="2000" dirty="0"/>
              <a:t> rate,</a:t>
            </a:r>
            <a:r>
              <a:rPr sz="2000" dirty="0"/>
              <a:t> pressure and temperature are safety-critical</a:t>
            </a:r>
          </a:p>
          <a:p>
            <a:r>
              <a:rPr sz="2000" dirty="0"/>
              <a:t>Batch reporting introduces delays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sz="2000" b="1" dirty="0">
                <a:solidFill>
                  <a:schemeClr val="accent1"/>
                </a:solidFill>
              </a:rPr>
              <a:t>Goal</a:t>
            </a:r>
            <a:r>
              <a:rPr sz="2000" dirty="0"/>
              <a:t>: </a:t>
            </a:r>
            <a:r>
              <a:rPr lang="en-US" sz="2000" dirty="0"/>
              <a:t> </a:t>
            </a:r>
            <a:r>
              <a:rPr sz="2000" dirty="0"/>
              <a:t>Real-time CCS monitoring</a:t>
            </a:r>
            <a:r>
              <a:rPr lang="en-US" sz="2000" dirty="0"/>
              <a:t> &amp; analysis</a:t>
            </a:r>
            <a:r>
              <a:rPr sz="2000" dirty="0"/>
              <a:t> using cloud-native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CCS Parameters in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418355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TT" b="1" dirty="0">
                <a:solidFill>
                  <a:schemeClr val="accent1"/>
                </a:solidFill>
              </a:rPr>
              <a:t>Dynamic parameters monitored</a:t>
            </a:r>
          </a:p>
          <a:p>
            <a:r>
              <a:rPr lang="en-TT" dirty="0"/>
              <a:t>Injection well identifier</a:t>
            </a:r>
            <a:endParaRPr lang="en-US" dirty="0">
              <a:solidFill>
                <a:schemeClr val="accent1"/>
              </a:solidFill>
            </a:endParaRPr>
          </a:p>
          <a:p>
            <a:r>
              <a:rPr dirty="0"/>
              <a:t>CO₂ injection pressure</a:t>
            </a:r>
            <a:endParaRPr lang="en-US" dirty="0"/>
          </a:p>
          <a:p>
            <a:r>
              <a:rPr dirty="0"/>
              <a:t>CO₂ injection temperature</a:t>
            </a:r>
            <a:endParaRPr lang="en-US" dirty="0"/>
          </a:p>
          <a:p>
            <a:r>
              <a:rPr lang="en-TT" dirty="0"/>
              <a:t>CO₂ injection rate</a:t>
            </a:r>
          </a:p>
          <a:p>
            <a:r>
              <a:rPr dirty="0"/>
              <a:t>Timestamp</a:t>
            </a:r>
          </a:p>
          <a:p>
            <a:endParaRPr lang="en-TT" dirty="0"/>
          </a:p>
          <a:p>
            <a:pPr marL="0" indent="0">
              <a:buNone/>
            </a:pPr>
            <a:r>
              <a:rPr lang="en-TT" b="1" dirty="0">
                <a:solidFill>
                  <a:schemeClr val="accent1"/>
                </a:solidFill>
              </a:rPr>
              <a:t>Reason</a:t>
            </a:r>
          </a:p>
          <a:p>
            <a:r>
              <a:rPr lang="en-TT" dirty="0"/>
              <a:t>Directly affect injectivity and containment</a:t>
            </a:r>
          </a:p>
          <a:p>
            <a:r>
              <a:rPr lang="en-TT" dirty="0"/>
              <a:t>First indicators of abnormal behaviour</a:t>
            </a:r>
          </a:p>
          <a:p>
            <a:r>
              <a:rPr lang="en-TT" dirty="0"/>
              <a:t>Core parameters in real CCS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From Field to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73000"/>
            <a:ext cx="7989752" cy="4297526"/>
          </a:xfrm>
        </p:spPr>
        <p:txBody>
          <a:bodyPr/>
          <a:lstStyle/>
          <a:p>
            <a:r>
              <a:rPr dirty="0"/>
              <a:t>Sensors measure </a:t>
            </a:r>
            <a:r>
              <a:rPr lang="en-US" dirty="0"/>
              <a:t>field</a:t>
            </a:r>
            <a:r>
              <a:rPr dirty="0"/>
              <a:t> </a:t>
            </a:r>
            <a:r>
              <a:rPr lang="en-US" dirty="0"/>
              <a:t>parameters (Temperature, Pressure, Injection Rate)</a:t>
            </a:r>
            <a:endParaRPr dirty="0"/>
          </a:p>
          <a:p>
            <a:r>
              <a:rPr dirty="0"/>
              <a:t>Edge gateway collects and formats data</a:t>
            </a:r>
            <a:r>
              <a:rPr lang="en-US" dirty="0"/>
              <a:t> (JSON)</a:t>
            </a:r>
            <a:endParaRPr dirty="0"/>
          </a:p>
          <a:p>
            <a:r>
              <a:rPr dirty="0"/>
              <a:t>Data transmitted securely to the cloud</a:t>
            </a:r>
          </a:p>
          <a:p>
            <a:r>
              <a:rPr dirty="0"/>
              <a:t>Cloud processes and stores data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Assumption</a:t>
            </a:r>
            <a:r>
              <a:rPr lang="en-US" dirty="0"/>
              <a:t>: Edge </a:t>
            </a:r>
            <a:r>
              <a:rPr dirty="0"/>
              <a:t>Gateway layer simulated in this project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C07D5-8539-E9B9-4C65-5DD43D7DB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74774"/>
            <a:ext cx="7989752" cy="1083329"/>
          </a:xfrm>
        </p:spPr>
        <p:txBody>
          <a:bodyPr/>
          <a:lstStyle/>
          <a:p>
            <a:pPr algn="ctr"/>
            <a:r>
              <a:rPr lang="en-US" dirty="0"/>
              <a:t>EDGE COMPUTING</a:t>
            </a:r>
          </a:p>
        </p:txBody>
      </p:sp>
      <p:pic>
        <p:nvPicPr>
          <p:cNvPr id="1026" name="Picture 2" descr="product eg500 series">
            <a:extLst>
              <a:ext uri="{FF2B5EF4-FFF2-40B4-BE49-F238E27FC236}">
                <a16:creationId xmlns:a16="http://schemas.microsoft.com/office/drawing/2014/main" id="{A4EE7730-F601-9E2B-ED16-468B64F92A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342" y="1871663"/>
            <a:ext cx="3632200" cy="363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duct eg503w">
            <a:extLst>
              <a:ext uri="{FF2B5EF4-FFF2-40B4-BE49-F238E27FC236}">
                <a16:creationId xmlns:a16="http://schemas.microsoft.com/office/drawing/2014/main" id="{1F8F227E-BC3D-3279-FAB6-91F41D332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1894821"/>
            <a:ext cx="3632200" cy="363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9A2B53-9619-110C-BC42-70EA3DB87F71}"/>
              </a:ext>
            </a:extLst>
          </p:cNvPr>
          <p:cNvSpPr txBox="1"/>
          <p:nvPr/>
        </p:nvSpPr>
        <p:spPr>
          <a:xfrm>
            <a:off x="474798" y="5485764"/>
            <a:ext cx="8194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T" dirty="0">
                <a:solidFill>
                  <a:srgbClr val="002060"/>
                </a:solidFill>
              </a:rPr>
              <a:t>Edge Gateways: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TT" dirty="0">
                <a:solidFill>
                  <a:srgbClr val="002060"/>
                </a:solidFill>
              </a:rPr>
              <a:t>Process data close to the source (sensors, devices, machines), reducing latency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TT" dirty="0">
                <a:solidFill>
                  <a:srgbClr val="002060"/>
                </a:solidFill>
              </a:rPr>
              <a:t>They keep things running even if the network is slow or down</a:t>
            </a:r>
          </a:p>
        </p:txBody>
      </p:sp>
    </p:spTree>
    <p:extLst>
      <p:ext uri="{BB962C8B-B14F-4D97-AF65-F5344CB8AC3E}">
        <p14:creationId xmlns:p14="http://schemas.microsoft.com/office/powerpoint/2010/main" val="1074492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</a:t>
            </a:r>
            <a:r>
              <a:rPr dirty="0"/>
              <a:t>CCS Data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69284"/>
            <a:ext cx="7989752" cy="3630795"/>
          </a:xfrm>
        </p:spPr>
        <p:txBody>
          <a:bodyPr>
            <a:normAutofit/>
          </a:bodyPr>
          <a:lstStyle/>
          <a:p>
            <a:r>
              <a:rPr dirty="0"/>
              <a:t>{</a:t>
            </a:r>
            <a:endParaRPr lang="en-US" dirty="0"/>
          </a:p>
          <a:p>
            <a:r>
              <a:rPr lang="en-TT" dirty="0"/>
              <a:t>  "</a:t>
            </a:r>
            <a:r>
              <a:rPr lang="en-TT" dirty="0" err="1"/>
              <a:t>storage_site</a:t>
            </a:r>
            <a:r>
              <a:rPr lang="en-TT" dirty="0"/>
              <a:t>": "</a:t>
            </a:r>
            <a:r>
              <a:rPr lang="en-TT" dirty="0" err="1"/>
              <a:t>Hibernia_CCS</a:t>
            </a:r>
            <a:r>
              <a:rPr lang="en-TT" dirty="0"/>
              <a:t>",</a:t>
            </a:r>
            <a:endParaRPr dirty="0"/>
          </a:p>
          <a:p>
            <a:r>
              <a:rPr lang="en-US" dirty="0"/>
              <a:t>  </a:t>
            </a:r>
            <a:r>
              <a:rPr dirty="0"/>
              <a:t>"</a:t>
            </a:r>
            <a:r>
              <a:rPr dirty="0" err="1"/>
              <a:t>injection_well</a:t>
            </a:r>
            <a:r>
              <a:rPr dirty="0"/>
              <a:t>": "INJ_03",</a:t>
            </a:r>
          </a:p>
          <a:p>
            <a:r>
              <a:rPr dirty="0"/>
              <a:t>  "co</a:t>
            </a:r>
            <a:r>
              <a:rPr baseline="-25000" dirty="0"/>
              <a:t>2</a:t>
            </a:r>
            <a:r>
              <a:rPr dirty="0"/>
              <a:t>_injection_pressure_psi": 2950,</a:t>
            </a:r>
          </a:p>
          <a:p>
            <a:r>
              <a:rPr dirty="0"/>
              <a:t>  "co</a:t>
            </a:r>
            <a:r>
              <a:rPr baseline="-25000" dirty="0"/>
              <a:t>2</a:t>
            </a:r>
            <a:r>
              <a:rPr dirty="0"/>
              <a:t>_injection_temperature_f": 121.4,</a:t>
            </a:r>
            <a:endParaRPr lang="en-US" dirty="0"/>
          </a:p>
          <a:p>
            <a:r>
              <a:rPr lang="en-TT" dirty="0"/>
              <a:t>  "co</a:t>
            </a:r>
            <a:r>
              <a:rPr lang="en-TT" baseline="-25000" dirty="0"/>
              <a:t>2</a:t>
            </a:r>
            <a:r>
              <a:rPr lang="en-TT" dirty="0"/>
              <a:t>_injection_rate_tpd": 1800,</a:t>
            </a:r>
            <a:endParaRPr dirty="0"/>
          </a:p>
          <a:p>
            <a:r>
              <a:rPr dirty="0"/>
              <a:t>  "timestamp": "2026-01-08T15:20:00Z"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data flow&#10;&#10;AI-generated content may be incorrect.">
            <a:extLst>
              <a:ext uri="{FF2B5EF4-FFF2-40B4-BE49-F238E27FC236}">
                <a16:creationId xmlns:a16="http://schemas.microsoft.com/office/drawing/2014/main" id="{8E1C33E7-3A1D-8BAB-DB93-041BD6003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20" y="1775294"/>
            <a:ext cx="8354159" cy="36250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73536"/>
            <a:ext cx="7989752" cy="829354"/>
          </a:xfrm>
        </p:spPr>
        <p:txBody>
          <a:bodyPr/>
          <a:lstStyle/>
          <a:p>
            <a:pPr algn="ctr"/>
            <a:r>
              <a:rPr lang="en-TT" dirty="0"/>
              <a:t>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4098668"/>
            <a:ext cx="3850958" cy="2696089"/>
          </a:xfrm>
        </p:spPr>
        <p:txBody>
          <a:bodyPr>
            <a:normAutofit fontScale="92500" lnSpcReduction="10000"/>
          </a:bodyPr>
          <a:lstStyle/>
          <a:p>
            <a:r>
              <a:rPr lang="en-TT" sz="1600" dirty="0"/>
              <a:t>Pub/Sub for event ingestion</a:t>
            </a:r>
          </a:p>
          <a:p>
            <a:r>
              <a:rPr lang="en-TT" sz="1600" dirty="0"/>
              <a:t>Dataflow for real-time processing</a:t>
            </a:r>
          </a:p>
          <a:p>
            <a:r>
              <a:rPr lang="en-TT" sz="1600" dirty="0" err="1"/>
              <a:t>BigQuery</a:t>
            </a:r>
            <a:r>
              <a:rPr lang="en-TT" sz="1600" dirty="0"/>
              <a:t> for analytics and monitoring</a:t>
            </a:r>
          </a:p>
          <a:p>
            <a:pPr marL="0" indent="0">
              <a:buNone/>
            </a:pPr>
            <a:endParaRPr lang="en-TT" sz="1600" dirty="0"/>
          </a:p>
          <a:p>
            <a:pPr marL="0" indent="0">
              <a:buNone/>
            </a:pPr>
            <a:r>
              <a:rPr lang="en-TT" sz="1600" dirty="0">
                <a:solidFill>
                  <a:schemeClr val="accent1"/>
                </a:solidFill>
              </a:rPr>
              <a:t>Benefits:</a:t>
            </a:r>
          </a:p>
          <a:p>
            <a:r>
              <a:rPr lang="en-TT" sz="1600" dirty="0"/>
              <a:t>Serverless</a:t>
            </a:r>
          </a:p>
          <a:p>
            <a:r>
              <a:rPr lang="en-TT" sz="1600" dirty="0"/>
              <a:t>Scalable</a:t>
            </a:r>
          </a:p>
          <a:p>
            <a:r>
              <a:rPr lang="en-TT" sz="1600" dirty="0"/>
              <a:t>Real-time visibility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5"/>
            <a:ext cx="8447150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15DB35-53D7-4EDC-A965-A4349296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9143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687C47-E41E-371C-D985-6633130AD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611" y="703571"/>
            <a:ext cx="4937781" cy="600338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B610F9C-62FE-46FC-8607-C35030B63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723899"/>
            <a:ext cx="277749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5BC5BB-2EFA-C112-B337-46DA05744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3092" y="2743974"/>
            <a:ext cx="2574526" cy="7611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METHODOLOGY</a:t>
            </a: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76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9980D-B60A-52C6-AA05-2296EC4F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91625"/>
            <a:ext cx="7989752" cy="771601"/>
          </a:xfrm>
        </p:spPr>
        <p:txBody>
          <a:bodyPr>
            <a:normAutofit/>
          </a:bodyPr>
          <a:lstStyle/>
          <a:p>
            <a:pPr algn="ctr"/>
            <a:r>
              <a:rPr lang="en-TT" dirty="0"/>
              <a:t>Monitoring Output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B7753-65D2-A5A3-5BF4-5EF34A2CE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78803"/>
            <a:ext cx="4560963" cy="2785061"/>
          </a:xfrm>
        </p:spPr>
        <p:txBody>
          <a:bodyPr/>
          <a:lstStyle/>
          <a:p>
            <a:pPr marL="0" indent="0">
              <a:buNone/>
            </a:pPr>
            <a:r>
              <a:rPr lang="en-TT" b="1" dirty="0">
                <a:solidFill>
                  <a:schemeClr val="accent1"/>
                </a:solidFill>
              </a:rPr>
              <a:t>What operators can see</a:t>
            </a:r>
            <a:endParaRPr lang="en-TT" dirty="0">
              <a:solidFill>
                <a:schemeClr val="accent1"/>
              </a:solidFill>
            </a:endParaRPr>
          </a:p>
          <a:p>
            <a:r>
              <a:rPr lang="en-TT" dirty="0"/>
              <a:t>Injection pressure per well</a:t>
            </a:r>
          </a:p>
          <a:p>
            <a:r>
              <a:rPr lang="en-TT" dirty="0"/>
              <a:t>Injection rate</a:t>
            </a:r>
          </a:p>
          <a:p>
            <a:r>
              <a:rPr lang="en-TT" dirty="0"/>
              <a:t>Temperature trends over time</a:t>
            </a:r>
          </a:p>
          <a:p>
            <a:r>
              <a:rPr lang="en-TT" dirty="0"/>
              <a:t>Early detection of abnormal behaviour</a:t>
            </a:r>
          </a:p>
          <a:p>
            <a:pPr marL="0" indent="0">
              <a:buNone/>
            </a:pPr>
            <a:endParaRPr lang="en-TT" dirty="0"/>
          </a:p>
        </p:txBody>
      </p:sp>
    </p:spTree>
    <p:extLst>
      <p:ext uri="{BB962C8B-B14F-4D97-AF65-F5344CB8AC3E}">
        <p14:creationId xmlns:p14="http://schemas.microsoft.com/office/powerpoint/2010/main" val="3353155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AC05-A83C-A7AF-A02F-21DE2FFDF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74551"/>
            <a:ext cx="7989752" cy="942462"/>
          </a:xfrm>
        </p:spPr>
        <p:txBody>
          <a:bodyPr/>
          <a:lstStyle/>
          <a:p>
            <a:pPr algn="ctr"/>
            <a:r>
              <a:rPr lang="en-TT" dirty="0"/>
              <a:t>QUERY Output</a:t>
            </a:r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F6063D-6DA3-BCDF-23FE-350576DE36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" b="13610"/>
          <a:stretch>
            <a:fillRect/>
          </a:stretch>
        </p:blipFill>
        <p:spPr>
          <a:xfrm>
            <a:off x="470263" y="1908702"/>
            <a:ext cx="8218142" cy="16792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032A73-BF68-BA1D-B827-F229E6C0E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3770906"/>
            <a:ext cx="7772400" cy="7974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1075E5-2E58-213D-9101-A190238DED2C}"/>
              </a:ext>
            </a:extLst>
          </p:cNvPr>
          <p:cNvSpPr txBox="1"/>
          <p:nvPr/>
        </p:nvSpPr>
        <p:spPr>
          <a:xfrm>
            <a:off x="4676074" y="3744779"/>
            <a:ext cx="323958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T" sz="900" dirty="0">
                <a:solidFill>
                  <a:srgbClr val="1A3260"/>
                </a:solidFill>
              </a:rPr>
              <a:t>Wells that exceeded 3000 PSI</a:t>
            </a:r>
          </a:p>
          <a:p>
            <a:endParaRPr lang="en-TT" sz="900" b="1" dirty="0">
              <a:solidFill>
                <a:schemeClr val="accent1"/>
              </a:solidFill>
            </a:endParaRPr>
          </a:p>
          <a:p>
            <a:r>
              <a:rPr lang="en-US" sz="900" dirty="0"/>
              <a:t>```</a:t>
            </a:r>
          </a:p>
          <a:p>
            <a:r>
              <a:rPr lang="en-TT" sz="900" i="1" dirty="0"/>
              <a:t>SELECT *</a:t>
            </a:r>
          </a:p>
          <a:p>
            <a:r>
              <a:rPr lang="en-TT" sz="900" i="1" dirty="0"/>
              <a:t>FROM ` PROJECT.DATASET.TABLE `</a:t>
            </a:r>
          </a:p>
          <a:p>
            <a:r>
              <a:rPr lang="en-TT" sz="900" i="1" dirty="0"/>
              <a:t>WHERE co2_injection_pressure_psi &gt; 3000</a:t>
            </a:r>
          </a:p>
          <a:p>
            <a:r>
              <a:rPr lang="en-TT" sz="900" i="1" dirty="0"/>
              <a:t>ORDER BY timestamp DESC;</a:t>
            </a:r>
          </a:p>
          <a:p>
            <a:r>
              <a:rPr lang="en-US" sz="900" i="1" dirty="0"/>
              <a:t>```</a:t>
            </a:r>
          </a:p>
          <a:p>
            <a:endParaRPr lang="en-US" sz="900" dirty="0"/>
          </a:p>
        </p:txBody>
      </p:sp>
      <p:pic>
        <p:nvPicPr>
          <p:cNvPr id="14" name="Picture 13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CB2E614-0EA2-6255-E56D-A0BD1654D8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8" r="194"/>
          <a:stretch>
            <a:fillRect/>
          </a:stretch>
        </p:blipFill>
        <p:spPr>
          <a:xfrm>
            <a:off x="470263" y="5083607"/>
            <a:ext cx="8098972" cy="15867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F592F8-D797-043A-68C5-116BCDD70173}"/>
              </a:ext>
            </a:extLst>
          </p:cNvPr>
          <p:cNvSpPr txBox="1"/>
          <p:nvPr/>
        </p:nvSpPr>
        <p:spPr>
          <a:xfrm>
            <a:off x="3778661" y="5392210"/>
            <a:ext cx="3091972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T" sz="900" dirty="0">
                <a:solidFill>
                  <a:srgbClr val="1A3260"/>
                </a:solidFill>
              </a:rPr>
              <a:t>Average pressure per well</a:t>
            </a:r>
          </a:p>
          <a:p>
            <a:endParaRPr lang="en-US" sz="900" i="1" dirty="0"/>
          </a:p>
          <a:p>
            <a:r>
              <a:rPr lang="en-US" sz="900" dirty="0"/>
              <a:t>```</a:t>
            </a:r>
            <a:endParaRPr lang="en-US" sz="900" i="1" dirty="0"/>
          </a:p>
          <a:p>
            <a:r>
              <a:rPr lang="en-TT" sz="900" i="1" dirty="0"/>
              <a:t>SELECT </a:t>
            </a:r>
            <a:r>
              <a:rPr lang="en-TT" sz="900" i="1" dirty="0" err="1"/>
              <a:t>injection_well</a:t>
            </a:r>
            <a:r>
              <a:rPr lang="en-TT" sz="900" i="1" dirty="0"/>
              <a:t>,</a:t>
            </a:r>
          </a:p>
          <a:p>
            <a:r>
              <a:rPr lang="en-TT" sz="900" i="1" dirty="0"/>
              <a:t>AVG(co2_injection_pressure_psi) AS </a:t>
            </a:r>
            <a:r>
              <a:rPr lang="en-TT" sz="900" i="1" dirty="0" err="1"/>
              <a:t>avg_pressure</a:t>
            </a:r>
            <a:endParaRPr lang="en-TT" sz="900" i="1" dirty="0"/>
          </a:p>
          <a:p>
            <a:r>
              <a:rPr lang="en-TT" sz="900" i="1" dirty="0"/>
              <a:t>FROM ` PROJECT.DATASET.TABLE `</a:t>
            </a:r>
          </a:p>
          <a:p>
            <a:r>
              <a:rPr lang="en-TT" sz="900" i="1" dirty="0"/>
              <a:t>GROUP BY </a:t>
            </a:r>
            <a:r>
              <a:rPr lang="en-TT" sz="900" i="1" dirty="0" err="1"/>
              <a:t>injection_well</a:t>
            </a:r>
            <a:r>
              <a:rPr lang="en-TT" sz="900" i="1" dirty="0"/>
              <a:t>;</a:t>
            </a:r>
          </a:p>
          <a:p>
            <a:r>
              <a:rPr lang="en-US" sz="900" dirty="0"/>
              <a:t>```</a:t>
            </a:r>
          </a:p>
          <a:p>
            <a:endParaRPr lang="en-TT" sz="900" i="1" dirty="0"/>
          </a:p>
          <a:p>
            <a:br>
              <a:rPr lang="en-TT" sz="900" dirty="0"/>
            </a:br>
            <a:endParaRPr lang="en-TT" sz="900" dirty="0"/>
          </a:p>
          <a:p>
            <a:endParaRPr lang="en-US" sz="800" i="1" dirty="0"/>
          </a:p>
        </p:txBody>
      </p:sp>
    </p:spTree>
    <p:extLst>
      <p:ext uri="{BB962C8B-B14F-4D97-AF65-F5344CB8AC3E}">
        <p14:creationId xmlns:p14="http://schemas.microsoft.com/office/powerpoint/2010/main" val="3055877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5"/>
            <a:ext cx="8447150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A1C4F03-C870-4FE9-AE32-BA54F6476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B7571D-AAA7-9A43-A718-B3B2DCE97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3" y="839901"/>
            <a:ext cx="8245162" cy="59032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>
                <a:solidFill>
                  <a:schemeClr val="accent1"/>
                </a:solidFill>
              </a:rPr>
              <a:t>visualization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5762F4-1BE7-CA90-3FDE-A0192E665558}"/>
              </a:ext>
            </a:extLst>
          </p:cNvPr>
          <p:cNvSpPr txBox="1"/>
          <p:nvPr/>
        </p:nvSpPr>
        <p:spPr>
          <a:xfrm>
            <a:off x="435893" y="1609964"/>
            <a:ext cx="8245160" cy="590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1600" cap="all">
                <a:solidFill>
                  <a:schemeClr val="accent2"/>
                </a:solidFill>
              </a:rPr>
              <a:t>Wells that exceeded 3000 PSI</a:t>
            </a:r>
            <a:endParaRPr lang="en-US" sz="1600" i="1" cap="all">
              <a:solidFill>
                <a:schemeClr val="accent2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BA45CAF-12D0-42B6-817E-7D5FD9B36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4900" y="453643"/>
            <a:ext cx="8474200" cy="98554"/>
            <a:chOff x="446534" y="453643"/>
            <a:chExt cx="11298933" cy="9855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BCC664D-E045-4A96-B7C0-6D791171D6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2476F54-DC50-4814-BE0A-4655F401E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C8889AC-6FD2-45AE-B1B8-822C91C2E5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7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D63CB7E5-0DBE-42D0-D5BE-ADD70F44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" b="740"/>
          <a:stretch>
            <a:fillRect/>
          </a:stretch>
        </p:blipFill>
        <p:spPr>
          <a:xfrm>
            <a:off x="687977" y="2055894"/>
            <a:ext cx="7756696" cy="41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89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Scope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47003"/>
            <a:ext cx="7989752" cy="36307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In Scope:</a:t>
            </a:r>
          </a:p>
          <a:p>
            <a:r>
              <a:rPr dirty="0"/>
              <a:t>Real-time CCS monitoring</a:t>
            </a:r>
            <a:r>
              <a:rPr lang="en-US" dirty="0"/>
              <a:t> and Analysis</a:t>
            </a:r>
            <a:r>
              <a:rPr dirty="0"/>
              <a:t> layer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Future Extensions:</a:t>
            </a:r>
          </a:p>
          <a:p>
            <a:r>
              <a:rPr dirty="0"/>
              <a:t>Alerts</a:t>
            </a:r>
          </a:p>
          <a:p>
            <a:r>
              <a:rPr dirty="0"/>
              <a:t>Regulatory dashboards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5"/>
            <a:ext cx="8447150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hand writing thank you on a white paper&#10;&#10;AI-generated content may be incorrect.">
            <a:extLst>
              <a:ext uri="{FF2B5EF4-FFF2-40B4-BE49-F238E27FC236}">
                <a16:creationId xmlns:a16="http://schemas.microsoft.com/office/drawing/2014/main" id="{282F9B1E-C2B5-74F7-C973-56C13F488F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568" r="34509" b="12974"/>
          <a:stretch>
            <a:fillRect/>
          </a:stretch>
        </p:blipFill>
        <p:spPr>
          <a:xfrm>
            <a:off x="361950" y="777239"/>
            <a:ext cx="5595238" cy="557522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723899"/>
            <a:ext cx="277749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4900" y="453643"/>
            <a:ext cx="8474200" cy="98554"/>
            <a:chOff x="446534" y="453643"/>
            <a:chExt cx="11298933" cy="9855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365419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1495</TotalTime>
  <Words>383</Words>
  <Application>Microsoft Macintosh PowerPoint</Application>
  <PresentationFormat>On-screen Show (4:3)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Wingdings 2</vt:lpstr>
      <vt:lpstr>Dividend</vt:lpstr>
      <vt:lpstr>Real Time Carbon Storage Monitoring Pipeline</vt:lpstr>
      <vt:lpstr>Background &amp; Motivation</vt:lpstr>
      <vt:lpstr>CCS Parameters in Scope</vt:lpstr>
      <vt:lpstr>From Field to Cloud</vt:lpstr>
      <vt:lpstr>EDGE COMPUTING</vt:lpstr>
      <vt:lpstr>EXAMPLE CCS Data Record</vt:lpstr>
      <vt:lpstr>Cloud Architecture</vt:lpstr>
      <vt:lpstr>METHODOLOGY</vt:lpstr>
      <vt:lpstr>Monitoring Output</vt:lpstr>
      <vt:lpstr>QUERY Output</vt:lpstr>
      <vt:lpstr>visualization</vt:lpstr>
      <vt:lpstr>Scope &amp; Future Work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Ikenna Donald Anasieze</cp:lastModifiedBy>
  <cp:revision>23</cp:revision>
  <dcterms:created xsi:type="dcterms:W3CDTF">2013-01-27T09:14:16Z</dcterms:created>
  <dcterms:modified xsi:type="dcterms:W3CDTF">2026-01-11T12:09:59Z</dcterms:modified>
  <cp:category/>
</cp:coreProperties>
</file>